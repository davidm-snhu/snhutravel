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836A6A-A3A2-4087-A0A0-E2A155F5137C}" v="2053" dt="2026-10-26T03:45:39.9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ndix.com/blog/agile-software-development-lifecycle-stages/" TargetMode="External"/><Relationship Id="rId2" Type="http://schemas.openxmlformats.org/officeDocument/2006/relationships/hyperlink" Target="https://www.geeksforgeeks.org/software-engineering/waterfall-model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atlassian.com/agile/project-management/project-management-intro" TargetMode="External"/><Relationship Id="rId4" Type="http://schemas.openxmlformats.org/officeDocument/2006/relationships/hyperlink" Target="https://www.atlassian.com/agile/scrum/rol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Scrum-Agile or Waterfall?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David McMurray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DEA13-4D51-B891-84F5-5F522A390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Waterfall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072A2-8F41-733F-1886-8B40F3708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/>
              <a:t>Waterfall is a traditional software development approach with sequential phases:</a:t>
            </a:r>
            <a:endParaRPr lang="en-US" dirty="0"/>
          </a:p>
          <a:p>
            <a:pPr marL="914400" lvl="1" indent="-457200">
              <a:buAutoNum type="arabicPeriod"/>
            </a:pPr>
            <a:r>
              <a:rPr lang="en-US"/>
              <a:t>Gather and specify requirements agreed on by the customer and development team</a:t>
            </a:r>
            <a:endParaRPr lang="en-US" dirty="0"/>
          </a:p>
          <a:p>
            <a:pPr marL="914400" lvl="1" indent="-457200">
              <a:buAutoNum type="arabicPeriod"/>
            </a:pPr>
            <a:r>
              <a:rPr lang="en-US"/>
              <a:t>Design the software based on the requirements, both overall at the high level and then in detail at </a:t>
            </a:r>
            <a:r>
              <a:rPr lang="en-US" dirty="0"/>
              <a:t>a lower level</a:t>
            </a:r>
          </a:p>
          <a:p>
            <a:pPr marL="914400" lvl="1" indent="-457200">
              <a:buAutoNum type="arabicPeriod"/>
            </a:pPr>
            <a:r>
              <a:rPr lang="en-US"/>
              <a:t>Develop based on the designs, and perform small unit tests as you go</a:t>
            </a:r>
          </a:p>
          <a:p>
            <a:pPr marL="914400" lvl="1" indent="-457200">
              <a:buAutoNum type="arabicPeriod"/>
            </a:pPr>
            <a:r>
              <a:rPr lang="en-US"/>
              <a:t>Test the developed software at a higher level with end users and the customer</a:t>
            </a:r>
          </a:p>
          <a:p>
            <a:pPr marL="914400" lvl="1" indent="-457200">
              <a:buAutoNum type="arabicPeriod"/>
            </a:pPr>
            <a:r>
              <a:rPr lang="en-US"/>
              <a:t>Deploy the tested software and maintain 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018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4F128-9FAD-1C09-9CF7-A66387E8E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Agile Phases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C9F1F-49BC-E113-EDD3-A0A926856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dirty="0"/>
              <a:t>Agile is a different approach, with short iterative cycles and phases that are repeated. Different subsections of a large project </a:t>
            </a:r>
            <a:r>
              <a:rPr lang="en-US"/>
              <a:t>will likely be in different phases at a given point.</a:t>
            </a:r>
          </a:p>
          <a:p>
            <a:pPr marL="914400" lvl="1" indent="-457200">
              <a:buAutoNum type="arabicPeriod"/>
            </a:pPr>
            <a:r>
              <a:rPr lang="en-US" dirty="0"/>
              <a:t>Ideation: define the purpose and goal of the new software, work on </a:t>
            </a:r>
            <a:r>
              <a:rPr lang="en-US"/>
              <a:t>gathering requirements, and prioritize tasks to use development resources efficiently</a:t>
            </a:r>
          </a:p>
          <a:p>
            <a:pPr marL="914400" lvl="1" indent="-457200">
              <a:buAutoNum type="arabicPeriod"/>
            </a:pPr>
            <a:r>
              <a:rPr lang="en-US"/>
              <a:t>Development: production tasks like design, architecting, and coding</a:t>
            </a:r>
          </a:p>
          <a:p>
            <a:pPr marL="914400" lvl="1" indent="-457200">
              <a:buAutoNum type="arabicPeriod"/>
            </a:pPr>
            <a:r>
              <a:rPr lang="en-US"/>
              <a:t>Testing: ensuring clean code, addressing outright bugs and errors, and performing trial runs of the software</a:t>
            </a:r>
          </a:p>
          <a:p>
            <a:pPr marL="914400" lvl="1" indent="-457200">
              <a:buAutoNum type="arabicPeriod"/>
            </a:pPr>
            <a:r>
              <a:rPr lang="en-US"/>
              <a:t>Deployment: putting the new software into use, as a full release or a completed part of a larger project</a:t>
            </a:r>
          </a:p>
          <a:p>
            <a:pPr marL="914400" lvl="1" indent="-457200">
              <a:buAutoNum type="arabicPeriod"/>
            </a:pPr>
            <a:r>
              <a:rPr lang="en-US" dirty="0"/>
              <a:t>Operations: Maintaining functionality, receiving further feedback and making </a:t>
            </a:r>
            <a:r>
              <a:rPr lang="en-US"/>
              <a:t>changes, or building further new software standing atop what was just built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406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23624-7D74-7C7D-77FE-03B45306F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Agile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167FA-F8AF-EE4A-000F-3813F0F61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Within Agile, it's typical to organize into Scrum teams with roles that fill various needs as the Agile phases move forward, especially when it comes to targeted meetings called ceremonies.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Product Owner: manages the backlog, communicates directly with stakeholders, provides vision and priorities, provides feedback on work during review meetings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Scrum Master: facilitates Scrum processes and ceremonies, works to remove organizational obstacles and blockers, takes feedback on processes during retrospective meetings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Development team: works to build and test and deliver high-quality increments of work towards the product, and shares status updates in daily standup meetings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89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23A21-0D89-32DE-9382-EEE69F065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Waterfall or Agile?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655C0-095B-DB40-CBF3-EC8BA8CF6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dirty="0"/>
              <a:t>Agile is iterative, flexible, and continuously delivers small pieces of work that </a:t>
            </a:r>
            <a:r>
              <a:rPr lang="en-US"/>
              <a:t>build up into a whole.</a:t>
            </a:r>
          </a:p>
          <a:p>
            <a:r>
              <a:rPr lang="en-US" dirty="0"/>
              <a:t>Agile can work when you need </a:t>
            </a:r>
            <a:r>
              <a:rPr lang="en-US"/>
              <a:t>visibility and accountability for work units, with fast feedback, and flexible priorities.</a:t>
            </a:r>
            <a:endParaRPr lang="en-US" dirty="0"/>
          </a:p>
          <a:p>
            <a:r>
              <a:rPr lang="en-US" dirty="0"/>
              <a:t>Organizations take time to learn to use agile, dependencies between teams may not be </a:t>
            </a:r>
            <a:r>
              <a:rPr lang="en-US"/>
              <a:t>readily apparent, and there are real time and effort costs to faithfully executing an Agile approach.</a:t>
            </a:r>
            <a:endParaRPr lang="en-US" dirty="0"/>
          </a:p>
          <a:p>
            <a:r>
              <a:rPr lang="en-US"/>
              <a:t>Waterfall is linear, sequential, predictable, and simple to execute.</a:t>
            </a:r>
          </a:p>
          <a:p>
            <a:r>
              <a:rPr lang="en-US"/>
              <a:t>The coordination cost of Waterfall is low due to well-defined sequential steps, there's a strong focus on thorough documentation, and preplanning makes cost estimation easier.</a:t>
            </a:r>
          </a:p>
          <a:p>
            <a:r>
              <a:rPr lang="en-US" dirty="0"/>
              <a:t>In Waterfall, teams may become </a:t>
            </a:r>
            <a:r>
              <a:rPr lang="en-US" err="1"/>
              <a:t>mo</a:t>
            </a:r>
            <a:r>
              <a:rPr lang="en-US" dirty="0"/>
              <a:t>re specialized and less cross-functional, it's hard to break up work to be shared, and engagement/ownership that developers feel towards the product may be lower since specialists may just deal with one part of </a:t>
            </a:r>
            <a:r>
              <a:rPr lang="en-US"/>
              <a:t>one phase of many separate products.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797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6AC85-B5BF-D4AB-2A3D-4DE5CA8C6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41B67-54FD-06F3-680B-348FA3BAC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dirty="0" err="1">
                <a:ea typeface="+mn-lt"/>
                <a:cs typeface="+mn-lt"/>
              </a:rPr>
              <a:t>GeeksforGeeks</a:t>
            </a:r>
            <a:r>
              <a:rPr lang="en-US" dirty="0">
                <a:ea typeface="+mn-lt"/>
                <a:cs typeface="+mn-lt"/>
              </a:rPr>
              <a:t>. (2026, July 7). Waterfall model - Software engineering. </a:t>
            </a:r>
            <a:r>
              <a:rPr lang="en-US" dirty="0">
                <a:ea typeface="+mn-lt"/>
                <a:cs typeface="+mn-lt"/>
                <a:hlinkClick r:id="rId2"/>
              </a:rPr>
              <a:t>https://www.geeksforgeeks.org/software-engineering/waterfall-model/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DiCesare, M. (2025, August 16). The 5 stages of the Agile software development lifecycle. Mendix. </a:t>
            </a:r>
            <a:r>
              <a:rPr lang="en-US" dirty="0">
                <a:ea typeface="+mn-lt"/>
                <a:cs typeface="+mn-lt"/>
                <a:hlinkClick r:id="rId3"/>
              </a:rPr>
              <a:t>https://www.mendix.com/blog/agile-software-development-lifecycle-stages/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West, D. (n.d.). Agile Scrum roles. Atlassian. </a:t>
            </a:r>
            <a:r>
              <a:rPr lang="en-US" dirty="0">
                <a:ea typeface="+mn-lt"/>
                <a:cs typeface="+mn-lt"/>
                <a:hlinkClick r:id="rId4"/>
              </a:rPr>
              <a:t>https://www.atlassian.com/agile/scrum/roles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Radigan, D. (n.d.). Agile vs. waterfall project management methodology. Atlassian. </a:t>
            </a:r>
            <a:r>
              <a:rPr lang="en-US" dirty="0">
                <a:ea typeface="+mn-lt"/>
                <a:cs typeface="+mn-lt"/>
                <a:hlinkClick r:id="rId5"/>
              </a:rPr>
              <a:t>https://www.atlassian.com/agile/project-management/project-management-intro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142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Scrum-Agile or Waterfall?</vt:lpstr>
      <vt:lpstr>Waterfall</vt:lpstr>
      <vt:lpstr>Agile Phases</vt:lpstr>
      <vt:lpstr>Agile Roles</vt:lpstr>
      <vt:lpstr>Waterfall or Agile?</vt:lpstr>
      <vt:lpstr>Citations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231</cp:revision>
  <dcterms:created xsi:type="dcterms:W3CDTF">2013-07-15T20:26:40Z</dcterms:created>
  <dcterms:modified xsi:type="dcterms:W3CDTF">2026-10-26T03:45:52Z</dcterms:modified>
</cp:coreProperties>
</file>